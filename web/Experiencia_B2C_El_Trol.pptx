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A9C23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Gestoría IMSS</c:v>
                  </c:pt>
                  <c:pt idx="1">
                    <c:v>Asesoría</c:v>
                  </c:pt>
                  <c:pt idx="2">
                    <c:v>Gestoría Infonavit</c:v>
                  </c:pt>
                  <c:pt idx="3">
                    <c:v>Modalidad 40</c:v>
                  </c:pt>
                  <c:pt idx="4">
                    <c:v>PPR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3622</c:v>
                </c:pt>
                <c:pt idx="1">
                  <c:v>2406</c:v>
                </c:pt>
                <c:pt idx="2">
                  <c:v>900</c:v>
                </c:pt>
                <c:pt idx="3">
                  <c:v>201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3A3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hoy el cliente final tiene una experiencia digital completa, no solo el PDF. El objetivo de esta sesión es que el equipo conozca TODO lo que ofrecemos y lo use para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estaba 'dormida'. Ya tenemos diagnóstico para casi 8 mil. El modelo es de producto propio, no comisión. Y la experiencia da valor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flujo de izquierda a derecha. Insiste: el cliente NO recaptura datos; entra prellenado. La asesoría es donde el equipo cierra.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Gestoría IMSS y Asesoría son el grueso. Modalidad 40 son pocos pero de mayor ticket y 'wow'. PPR es Ley 97. El mensaje cambia por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Pantallas reales del producto. Izquierda: la calculadora pública que cualquiera usa sin CURP. Derecha: el diagnóstico que ve el cliente al entrar con su caso (aquí, la cuenta demo Ley 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producto ancla de $100. El 'de X a Y' con sus propios datos es lo que engancha. Y se puede ganar con puntos, así que nadie se queda fuera por dinero.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de venta honesto: 'tus datos del IMSS pueden estar viejos, los actualizamos y recalculamos'. Aplica al 84% — gran excusa para reabrir la conversación.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gancho 'gánala con puntos' quita la barrera de precio sin tirar el precio. Y empuja referidos, que es viralidad gratis.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comparador YA está en vivo (no es próximamente). Es un gancho gratis: cualquier cliente quiere saber cuál AFORE le conviene. Cruza con su pensión. No tramitamos traspasos: derivamos.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es masivo y barato; WhatsApp es de mayor engagement pero abre conversaciones — por eso va por lotes y el equipo debe estar listo para contestar.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seis hábitos son el resumen accionable. Si el equipo hace esto, aprovecha toda la experiencia.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un dashboard en vivo conectado a la base. El piloto nos dice si escalamos. La calidad del número de WhatsApp es lo más delicado.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26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B2C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ahora le ofrecemos al cliente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3886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digital, campañas y escenarios de venta — para que el equipo lo aproveche.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4846320"/>
            <a:ext cx="2600554" cy="420624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846320"/>
            <a:ext cx="26005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interactiva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24682" y="4846320"/>
            <a:ext cx="2106778" cy="420624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4682" y="4846320"/>
            <a:ext cx="2106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y referidos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14339" y="4846320"/>
            <a:ext cx="3588106" cy="420624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4339" y="4846320"/>
            <a:ext cx="3588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por WhatsApp y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5413248"/>
            <a:ext cx="2995574" cy="420624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413248"/>
            <a:ext cx="2995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jugada multi-producto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el equipo · Junio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0" y="685800"/>
            <a:ext cx="868680" cy="86868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144" y="920344"/>
            <a:ext cx="399593" cy="399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B2C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lista para activarse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13,619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la base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8288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7,966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30168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 diagnóstico listo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8288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7376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12,490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37376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correo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264" y="18288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4584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13,583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44584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teléfono (WhatsApp)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679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4020983"/>
            <a:ext cx="260787" cy="26078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0876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propio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41248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Micro-productos de Trol, no comisiones de terceros.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sano y cobro directo (SPEI / tarjeta).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puede comprar más de un producto.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88536" y="361188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44568" y="38679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39" y="4020983"/>
            <a:ext cx="260787" cy="2607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48656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impulso es corto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4581144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pensión 'se enfría' rápido: hay que actuar al momento.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entrega valor en minutos, no en días.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mejor jugada de inmediato.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028432" y="361188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84464" y="38679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35" y="4020983"/>
            <a:ext cx="260787" cy="2607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988552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jugada por perfil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321040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solo producto estrella.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rutea a cada cliente a lo que más le conviene.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40, gestoría IMSS/Infonavit, PPR, asesoría.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 experiencia, de punta a punta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071" y="255794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(Tako) o email con su link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9424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23F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414016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8376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47" y="255794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05456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app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23744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app.trol.mx · login con código SMS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1480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23F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4279392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73752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823" y="2557943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89120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370832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389120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pensión hoy y al máximo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980176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23F"/>
                </a:solidFill>
              </a:rPr>
              <a:t>›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6144768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39128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99" y="2557943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54496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236208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jugada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254496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recomendación de mayor valor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845552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23F"/>
                </a:solidFill>
              </a:rPr>
              <a:t>›</a:t>
            </a:r>
            <a:endParaRPr lang="en-US" sz="2600" dirty="0"/>
          </a:p>
        </p:txBody>
      </p:sp>
      <p:sp>
        <p:nvSpPr>
          <p:cNvPr id="32" name="Shape 26"/>
          <p:cNvSpPr/>
          <p:nvPr/>
        </p:nvSpPr>
        <p:spPr>
          <a:xfrm>
            <a:off x="8010144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604504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575" y="2557943"/>
            <a:ext cx="260787" cy="26078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119872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8101584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Desbloqueo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8119872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$100 o gánala con puntos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9710928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23F"/>
                </a:solidFill>
              </a:rPr>
              <a:t>›</a:t>
            </a:r>
            <a:endParaRPr lang="en-US" sz="2600" dirty="0"/>
          </a:p>
        </p:txBody>
      </p:sp>
      <p:sp>
        <p:nvSpPr>
          <p:cNvPr id="39" name="Shape 32"/>
          <p:cNvSpPr/>
          <p:nvPr/>
        </p:nvSpPr>
        <p:spPr>
          <a:xfrm>
            <a:off x="9875520" y="214884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469880" y="24048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951" y="2557943"/>
            <a:ext cx="260787" cy="26078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985248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966960" y="3063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985248" y="344728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al equipo para cerrar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Costura clave:  </a:t>
            </a:r>
            <a:pPr indent="0" marL="0">
              <a:buNone/>
            </a:pPr>
            <a:r>
              <a:rPr lang="en-US" sz="140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entra con su caso ya cargado (no recaptura nada). Solo teclea el código SMS y ve su pensión.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Segmentos: a quién le hablamos y de qué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23790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ley (con diagnóstico)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788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73 — 6,976: palanca de semanas, salario y Modalidad 40.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97 — 978: depende del saldo AFORE; ahorro/PPR.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diagnóstico — ~5,650: candidatos a activar.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4206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43" y="447818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4343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ruteo lo hace solo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41248" y="5029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con diagnóstico recibe su 'producto estrella'.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ve la lista priorizada en /ruteo.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de campaña se adapta al segmento.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83480" y="1828800"/>
            <a:ext cx="6656832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57800" y="2011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Ruteo por producto estrella (clientes)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120640" y="237744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22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digital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app.trol.mx — lo que el cliente ve y hace por su cuenta.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24160" y="731520"/>
            <a:ext cx="822960" cy="82296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6359" y="953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REALES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la experiencia</a:t>
            </a:r>
            <a:endParaRPr lang="en-US" sz="3300" dirty="0"/>
          </a:p>
        </p:txBody>
      </p:sp>
      <p:pic>
        <p:nvPicPr>
          <p:cNvPr id="4" name="Image 0" descr="/sessions/charming-gifted-lamport/mnt/outputs/img_calc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440680" cy="43341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44613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pública (app.trol.mx/calcula) — sin CURP ni login</a:t>
            </a:r>
            <a:endParaRPr lang="en-US" sz="1250" dirty="0"/>
          </a:p>
        </p:txBody>
      </p:sp>
      <p:pic>
        <p:nvPicPr>
          <p:cNvPr id="6" name="Image 1" descr="/sessions/charming-gifted-lamport/mnt/outputs/img_jug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5212080" cy="43286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6139189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 tu sesión — pensión hoy, escenario máximo y mejor jugada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APP.TROL.MX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seguro y ve su caso en 3 pantallas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750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Diagnóstico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92608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Pensión hoy y escenario máximo (con edad).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Semanas, régimen (Ley 73/97) y conservación de derechos.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puntual con su aclaración (no rangos vagos).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96596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39" y="237506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8656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Mejor jugada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81144" y="292608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recomendación, la de mayor valor.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realista: 'de $X a $Y' y el efectivo neto.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Desbloqueo dual: paga $100 o gánala con puntos.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28432" y="196596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35" y="237506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Checkout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21040" y="292608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 o tarjeta in-page, con el caso a la vista.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10% al pagar; CFDI opcional.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pagar: producto desbloqueado al instante.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 </a:t>
            </a:r>
            <a:pPr indent="0" marL="0">
              <a:buNone/>
            </a:pPr>
            <a:r>
              <a:rPr lang="en-US" sz="130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teléfono + código SMS. El teléfono llega prellenado desde el link de campaña.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GANCHO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calculadora interactiva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389120"/>
          </a:xfrm>
          <a:prstGeom prst="roundRect">
            <a:avLst>
              <a:gd name="adj" fmla="val 1875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3920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y mira en vivo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de retiro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cotizadas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/ aportaciones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modalidades (no 'con/sin Mod 40')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76672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vende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$X</a:t>
            </a:r>
            <a:pPr indent="0" marL="0">
              <a:buNone/>
            </a:pPr>
            <a:r>
              <a:rPr lang="en-US" sz="30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$Y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58368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salto de pensión y la mejor jugada con SUS datos ya cargados.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83680" y="3977640"/>
            <a:ext cx="4754880" cy="0"/>
          </a:xfrm>
          <a:prstGeom prst="line">
            <a:avLst/>
          </a:prstGeom>
          <a:noFill/>
          <a:ln w="12700">
            <a:solidFill>
              <a:srgbClr val="E4E6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</a:t>
            </a:r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pPr indent="0" marL="0">
              <a:buNone/>
            </a:pPr>
            <a:r>
              <a:rPr lang="en-US" sz="150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 gánala con </a:t>
            </a:r>
            <a:pPr indent="0" marL="0">
              <a:buNone/>
            </a:pPr>
            <a:r>
              <a:rPr lang="en-US" sz="15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puntos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traer su información del IMSS al día cuando el dato es viejo (ver siguiente).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8368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del cliente:  app.trol.mx/e/&lt;su-id&gt;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tus datos del IMSS cuando quieras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2934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945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envejece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880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es fresco, pero la información del IMSS puede tener meses o años.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de la base tiene datos de más de 1 mes; algunos de 2023.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459943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43" y="475250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46177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calculadora lo refresca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41248" y="5303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comprar/activar, si el dato está viejo, traemos tu historial al día.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tu pensión al instante con datos de hoy.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1920240"/>
            <a:ext cx="5376672" cy="4343400"/>
          </a:xfrm>
          <a:prstGeom prst="roundRect">
            <a:avLst>
              <a:gd name="adj" fmla="val 1895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00800" y="2468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200" dirty="0"/>
          </a:p>
        </p:txBody>
      </p:sp>
      <p:sp>
        <p:nvSpPr>
          <p:cNvPr id="16" name="Text 12"/>
          <p:cNvSpPr/>
          <p:nvPr/>
        </p:nvSpPr>
        <p:spPr>
          <a:xfrm>
            <a:off x="6675120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necesita actualizar su información del IMSS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7512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 un motivo real para volver a contactarlos.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MONETIZACIÓN SIN BARRERA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 puntos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70662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2934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punto = 1 peso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 simple. La calculadora cuesta 100 puntos.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920240"/>
            <a:ext cx="270662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762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951" y="232934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Desbloquea sin pagar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no quiere pagar, la gana con puntos.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920240"/>
            <a:ext cx="270662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9088" y="21762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159" y="232934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Caducan en 6 meses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19088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urgencia para usarlos.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0264" y="1920240"/>
            <a:ext cx="270662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217627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367" y="232934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10%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26296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pagar, regresan puntos para el siguiente producto.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29768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gana puntos el cliente?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6868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2194560" y="5029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Refiere a alguien que llega a su diagnóstico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2628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5852160" y="5029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del referido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18388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+pts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9509760" y="5029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Contestar la encuesta / hitos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VIRAL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Referidos: cada cliente trae más clientes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4377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tiene su link personal: app.trol.mx/r/&lt;su-id&gt;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comparte por WhatsApp con un toque (mensaje listo).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amigo llega a su diagnóstico: +100 pts para quien refiere, +50 para el referido.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/referidos: comparte y ve sus invitados y puntos.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76672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ventas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27432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referido = la calculadora gratis. 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sin presupuesto igual avanza, e invita.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relación: invita a quien quiere cuidar su pensión.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SU teléfono (su credibilidad), no del nuestro.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INTEGRADO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dentro de la experiencia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677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42078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 (principal)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con CLABE en pantalla.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producción: pago real → desbloqueo automático.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Acreditación en minutos, sin fricción.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201168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2677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42078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in-page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 tarjeta sin salir de la app (MP Bricks).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al instante y desbloquea el producto.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meses sin intereses en productos mayores.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confirmarse el pago:  </a:t>
            </a:r>
            <a:pPr indent="0" marL="0"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cumple la orden, se acredita el cashback 10%, se desbloquea el producto y —si el dato del IMSS está viejo— se dispara la actualización. Todo automático.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precios</a:t>
            </a:r>
            <a:endParaRPr lang="en-US" sz="3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62453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incluye / cuándo venderlo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Calculadora interactiva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jugada interactiva + actualización del dato IMSS. Gánala con 100 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Avanzado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a fondo del caso; siguiente escalón tras la calculadora.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Avanzado + Sesión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 + asesoría 1:1 con experto. El cierre de mayor valor.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Gancho de entrada / revisión inicial sin costo.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conviven con el modelo de puntos: el cliente paga o gana el producto. El cashback empuja al siguiente escalón.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PERDER AL LEAD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sin CURP (rescate)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677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42078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no suelta su CURP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9718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direccional sin CURP ni login.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mano: nacimiento, semanas, salario.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puerta abierta para el cálculo oficial.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201168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2677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42078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la usa de rescate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cliente manda datos pero no CURP, el bot le pasa el link.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público: app.trol.mx/calcula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nadie se queda sin un número que lo enganche.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nunca dio datos:  </a:t>
            </a:r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leads sin diagnóstico les precargamos puntos para que activen su cálculo gratis (más barato que procesarlos a todos por adelantado).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AFOREs</a:t>
            </a:r>
            <a:endParaRPr lang="en-US" sz="3300" dirty="0"/>
          </a:p>
        </p:txBody>
      </p:sp>
      <p:pic>
        <p:nvPicPr>
          <p:cNvPr id="4" name="Image 0" descr="/sessions/charming-gifted-lamport/mnt/outputs/img_compar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349240" cy="44425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80533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app.trol.mx/comparador — real, con datos de CONSAR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72200" y="178308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28232" y="203911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03" y="219218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2057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compara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464808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 oficial por tu generación, comisión y 'fuga' (quién se va).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3310128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28232" y="3566160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303" y="371923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35844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experta opcional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464808" y="42702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Volatilidad, Sharpe, drawdown — modo 'para ñoños', separado.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4837176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28232" y="509320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03" y="5246279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511149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ventas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464808" y="57972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gratis y tema con cualquier cliente; derivar a asesor.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22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y campañas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 la experiencia al cliente.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24160" y="731520"/>
            <a:ext cx="822960" cy="82296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6359" y="953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canales que llevan al cliente a la 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750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(Tako)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9260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engagement; link personal /e/ prellenado.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conversación que el equipo aprovecha en vivo.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manda por lotes (piloto primero, luego escala).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96596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37506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masivo (HubSpot)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toda la base (12,490 correos), costo marginal.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programada: 'ya es interactiva' → 'actualiza tus datos'.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segmenta por producto estrella.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del lunes:  </a:t>
            </a:r>
            <a:pPr indent="0" marL="0"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contactos por WhatsApp (todos los segmentos menos Mod 40) + un piloto Mod 40 aparte. Email a la base en paralelo. Medimos y escalamos.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WHATSAPP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ya conoce la experiencia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9335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el link interactivo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ya tiene diagnóstico, le comparte su experiencia.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240280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03" y="23933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240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 sin CURP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manda datos pero no CURP, le pasa la calculadora pública.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389120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454219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campañas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viene de una campaña, no reinicia: continúa desde ahí.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389120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03" y="454219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lo pasa para cerrar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la asesoría y hace el handoff al equipo.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22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venta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 cada perfil — y qué ofreces tú.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24160" y="731520"/>
            <a:ext cx="822960" cy="822960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6359" y="953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 · MODALIDAD 40 (LEY 73)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mayor palanca: 'de $X a $Y'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Ley 73, +950 semanas, hueco sin cotizar, cerca de los 60.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pensión actual y el salto enorme con Modalidad 40.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multiplicador con sus datos ya cargados.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cifra que más impacta de toda la base.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 para Mod 40 retroactiva (Trol lo implementa).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para diseñar la estrategia.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ticket más alto: prioriza estos contactos.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$100 → Asesoría / Diagnóstico Avanzado + Sesión $800.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 · LISTO PARA PENSIONARSE (GESTORÍA IMSS)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casi cumple — acompáñalo en el trámite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cumple o está cerca de requisitos de pensión IMSS. El grueso de la base.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 confirma que está listo o muy cerca.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le conviene salir (edad y monto).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de derechos, si aplica.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Gestoría / acompañamiento del trámite.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dudas y dar tranquilidad.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asesoría para cerrar.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$100 → Asesoría $800. Volumen alto.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3 · INFONAVIT SIN USAR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saldo que podría perderse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saldo de Infonavit &gt; $200k sin utilizar (Ley 73) o en riesgo de absorción (Ley 97).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saldo de Infonavit dentro del diagnóstico.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suma (o se pierde) en su retiro.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aprovechar el saldo (Trol implementa).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honesta: en Ley 97 el IMSS lo puede absorber.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asesor para la implementación.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/ Diagnóstico Avanzado. Mensaje: 'no dejes ese dinero en la mesa'.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4 · LEY 97 / PPR (AHORRO)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pensión depende del ahorro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Ley 97, con ingreso; la pensión sube con aportaciones.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Simulación: cuánto sube su pensión si aporta más.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horizonte y el efecto del saldo AFORE.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personal de retiro (PPR) y ahorro voluntario.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fiscal si tiene empleo formal.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para definir cuánto y dónde aportar.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$100 → PPR / Asesoría. Suscripción 'horizonte' a futuro.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5 · SIN DIAGNÓSTICO / SIN CURP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Reactívalo: dale un número primero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lead que nunca completó (Belvo falló) o no quiere dar CURP.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al instante en la calculadora pública (sin CURP).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CURP: activa su cálculo oficial con puntos precargados.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Pídele la CURP para el número exacto.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Recuérdale que tiene puntos para activar gratis.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lo rescata solo si manda datos.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con puntos → Calculadora. Objetivo: meterlo al embudo.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6 · SIN PRESUPUESTO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avance aunque no pague hoy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interesado, pero no quiere/puede pagar los $100.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402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ganar la calculadora con puntos.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link de referidos para invitar y sumar puntos.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24028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24871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6402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ofreces tú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'Gánala gratis: invita a un amigo (+100 pts)'.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relación viva sin perder al cliente.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referidos = más leads para el equipo.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EF4D8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458968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6120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empujar:  </a:t>
            </a:r>
            <a:pPr indent="0" marL="0"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+ puntos. Cero costo, suma viralidad.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usas en tu día a día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6712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23" y="231032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2167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por el número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el link interactivo: que vea su 'de X a Y'. El número abre la conversación.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9202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16712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331" y="231032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7216" y="2167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excusa de actualizar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'Tus datos del IMSS pueden estar viejos, los actualizamos'. Aplica al 84%.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9202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16712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39" y="231032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2167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la barrera de precio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66176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quiere pagar: 'gánala con puntos / invita a un amigo'.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436168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23" y="450488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4361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a su mejor jugada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su segmento en /ruteo y ofrece el producto que más le conviene.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0248" y="41148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17136" y="436168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331" y="450488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7216" y="4361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con asesoría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44568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 el gancho; tu asesoría 1:1 es el cierre de valor.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91856" y="41148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361688"/>
            <a:ext cx="530352" cy="530352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939" y="4504883"/>
            <a:ext cx="243962" cy="2439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4361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rápido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66176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campañas abren conversaciones: responder a tiempo es la mitad de la venta.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todo en vivo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3750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piloto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92608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del link y contactos únicos.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iniciaron sesión (entraron).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Desbloqueos: pago vs puntos.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de la calculadora pública.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y actividad por día.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96596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4E6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221992"/>
            <a:ext cx="566928" cy="566928"/>
          </a:xfrm>
          <a:prstGeom prst="ellipse">
            <a:avLst/>
          </a:prstGeom>
          <a:solidFill>
            <a:srgbClr val="D1F06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35" y="237506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vigilamos para escalar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número de WhatsApp (no quemarlo).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apertura y respuesta del piloto.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desbloqueo y a asesoría.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segmento responde mejor.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ampliar lotes o ajustar mensaje.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22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ya tiene una experiencia completa.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trabajo: aprovecharla para vender.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41248" y="4572000"/>
            <a:ext cx="2582266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572000"/>
            <a:ext cx="2582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interactiva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24682" y="4572000"/>
            <a:ext cx="2088490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4682" y="4572000"/>
            <a:ext cx="2088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IMSS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14339" y="4572000"/>
            <a:ext cx="2088490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4339" y="4572000"/>
            <a:ext cx="2088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y referidos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4572000"/>
            <a:ext cx="1693469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3997" y="4572000"/>
            <a:ext cx="1693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integrado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175504"/>
            <a:ext cx="2582266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5175504"/>
            <a:ext cx="2582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jugada por perfil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24682" y="5175504"/>
            <a:ext cx="1693469" cy="457200"/>
          </a:xfrm>
          <a:prstGeom prst="roundRect">
            <a:avLst>
              <a:gd name="adj" fmla="val 50000"/>
            </a:avLst>
          </a:prstGeom>
          <a:solidFill>
            <a:srgbClr val="31343A"/>
          </a:solidFill>
          <a:ln w="12700">
            <a:solidFill>
              <a:srgbClr val="3E4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4682" y="5175504"/>
            <a:ext cx="1693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que enlaza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arrancan las campañas. A vender.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Trol · Experiencia B2C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Experiencia B2C de El Trol</dc:title>
  <dc:subject>PptxGenJS Presentation</dc:subject>
  <dc:creator>El Trol Financiero</dc:creator>
  <cp:lastModifiedBy>El Trol Financiero</cp:lastModifiedBy>
  <cp:revision>1</cp:revision>
  <dcterms:created xsi:type="dcterms:W3CDTF">2026-06-29T00:26:46Z</dcterms:created>
  <dcterms:modified xsi:type="dcterms:W3CDTF">2026-06-29T00:26:46Z</dcterms:modified>
</cp:coreProperties>
</file>